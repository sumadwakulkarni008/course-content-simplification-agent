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0" r:id="rId9"/>
    <p:sldId id="291" r:id="rId10"/>
    <p:sldId id="292" r:id="rId11"/>
    <p:sldId id="262" r:id="rId12"/>
    <p:sldId id="264" r:id="rId13"/>
    <p:sldId id="286" r:id="rId14"/>
    <p:sldId id="287" r:id="rId15"/>
    <p:sldId id="280" r:id="rId16"/>
    <p:sldId id="288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8AA45C4-2AC1-8517-1BC6-B4D76161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A1C5246-838D-B804-A56B-BC9B52B15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30678B-9A26-414A-24D2-5EADEA30F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9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0200"/>
            <a:ext cx="0" cy="1325880"/>
          </a:xfrm>
        </p:spPr>
        <p:txBody>
          <a:bodyPr wrap="square">
            <a:normAutofit/>
          </a:bodyPr>
          <a:lstStyle/>
          <a:p>
            <a:pPr algn="ctr"/>
            <a:r>
              <a:rPr sz="2900" b="1">
                <a:solidFill>
                  <a:srgbClr val="141414"/>
                </a:solidFill>
                <a:latin typeface="Arial"/>
              </a:rPr>
              <a:t>IBM University Engagement Project Submission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611880"/>
            <a:ext cx="10515600" cy="1325880"/>
          </a:xfrm>
        </p:spPr>
        <p:txBody>
          <a:bodyPr wrap="square"/>
          <a:lstStyle/>
          <a:p>
            <a:pPr algn="ctr"/>
            <a:r>
              <a:rPr sz="2100" b="0">
                <a:solidFill>
                  <a:srgbClr val="1E1E1E"/>
                </a:solidFill>
                <a:latin typeface="Arial"/>
              </a:rPr>
              <a:t>Course Content Simplification Agent</a:t>
            </a:r>
            <a:br/>
            <a:r>
              <a:rPr sz="2100" b="0">
                <a:solidFill>
                  <a:srgbClr val="1E1E1E"/>
                </a:solidFill>
                <a:latin typeface="Arial"/>
              </a:rPr>
              <a:t>“Exploring the Power of Agentic AI with IBM Cloud and Orchestrate”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Arial"/>
                        </a:rPr>
                        <a:t>Sumadwa Kulkarni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Arial"/>
                        </a:rPr>
                        <a:t>Sumadwakulkarni@gmail.com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Arial"/>
                        </a:rPr>
                        <a:t>8277188531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200" b="1">
                <a:solidFill>
                  <a:srgbClr val="191919"/>
                </a:solidFill>
                <a:latin typeface="Arial"/>
              </a:rPr>
              <a:t>Domain of Project – Education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200" b="1">
                <a:solidFill>
                  <a:srgbClr val="191919"/>
                </a:solidFill>
                <a:latin typeface="Arial"/>
              </a:rPr>
              <a:t>Project Title – Course Content Simplification Agent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500" b="0">
                <a:solidFill>
                  <a:srgbClr val="191919"/>
                </a:solidFill>
                <a:latin typeface="Arial"/>
              </a:rPr>
              <a:t>Platform: IBM watsonx Orchestrate</a:t>
            </a:r>
            <a:br/>
            <a:r>
              <a:rPr sz="1500" b="0">
                <a:solidFill>
                  <a:srgbClr val="191919"/>
                </a:solidFill>
                <a:latin typeface="Arial"/>
              </a:rPr>
              <a:t>Implementation status: Evaluated, versioned and deployed to Live</a:t>
            </a:r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730752"/>
            <a:ext cx="49377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sz="1700" b="0">
                <a:solidFill>
                  <a:srgbClr val="191919"/>
                </a:solidFill>
                <a:latin typeface="Arial"/>
              </a:rPr>
              <a:t>The Challenge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Many students, especially learners with different levels of prior knowledge, struggle with complex academic material. Textbooks, lecture notes and technical resources can contain dense explanations and unfamiliar terminology.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The Objective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Develop an AI-powered agent that analyzes academic questions or course content and reframes explanations in clear, concise, beginner-friendly language while preserving the important concepts.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Expected impact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Better comprehension and confidence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Easier access to technical subjects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Support for different learner levels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More inclusive and personalized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700" b="1">
                <a:solidFill>
                  <a:srgbClr val="191919"/>
                </a:solidFill>
                <a:latin typeface="Arial"/>
              </a:rPr>
              <a:t>Problem Statement – Course Content Simplification Agent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sz="1700" b="0">
                <a:solidFill>
                  <a:srgbClr val="191919"/>
                </a:solidFill>
                <a:latin typeface="Arial"/>
              </a:rPr>
              <a:t>The solution is an AI educational assistant built in IBM watsonx Orchestrate.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Workflow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1. Student submits an academic question or difficult concept.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2. The agent understands the topic and the need for a simple explanation.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3. Course knowledge is used to support relevant, grounded answers.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4. The AI generates a concise, structured explanation using beginner-friendly terminology.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5. Important concepts are preserved while unnecessary complexity is reduced.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The result is a practical learning companion that turns difficult course content into explanations students can understand and use.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700" b="1">
                <a:solidFill>
                  <a:srgbClr val="191919"/>
                </a:solidFill>
                <a:latin typeface="Arial"/>
              </a:rPr>
              <a:t>Proposed Solution – Course Content Simplification Agent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700" b="1">
                <a:solidFill>
                  <a:srgbClr val="191919"/>
                </a:solidFill>
                <a:latin typeface="Arial"/>
              </a:rPr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191919"/>
                </a:solidFill>
                <a:latin typeface="Arial"/>
              </a:rPr>
              <a:t>IBM watsonx Orchestrate – Platform used to build, evaluate, version and deploy the AI agent.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IBM Granite / Generative AI – Provides language understanding and generation for clear explanations.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Knowledge Source – Course content is supplied as knowledge so responses can stay aligned with the learning material.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Evaluation – Test created: “Explain machine learning in simple words for a beginner.”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Deployment – Version v1.0 – Course Content Simplification was deployed to the Live environment.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Interface – Orchestrate Chat / agent preview is used to interact with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sz="2700" b="1">
                <a:solidFill>
                  <a:srgbClr val="191919"/>
                </a:solidFill>
                <a:latin typeface="Arial"/>
              </a:rPr>
              <a:t>Orchestrate Components Used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700" b="0">
                <a:solidFill>
                  <a:srgbClr val="191919"/>
                </a:solidFill>
                <a:latin typeface="Arial"/>
              </a:rPr>
              <a:t>1) Chat Input – Student enters a question or academic concept.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2) AI Agent – Interprets the request and generates a simplified response.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3) Knowledge – Course material is available as a knowledge source.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4) Chat Output – Displays the final simplified explanation.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5) Evaluation – Test: “Explain machine learning in simple words for a beginner.”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6) Version &amp; Deployment – v1.0 created and successfully deployed to the Live environment.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endParaRPr sz="2400" b="1">
              <a:sym typeface="Times New Roman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FC88A-B369-455A-F57A-122CC34E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4" y="928386"/>
            <a:ext cx="10937928" cy="5934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01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Deployment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858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Arial"/>
              </a:rPr>
              <a:t>The agent version is shown running in the Live environment.</a:t>
            </a:r>
          </a:p>
        </p:txBody>
      </p:sp>
      <p:pic>
        <p:nvPicPr>
          <p:cNvPr id="9" name="Picture 8" descr="4b50d37d-33a2-4c9d-b3d4-5b1771c000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622" y="1115568"/>
            <a:ext cx="907045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458060A-E278-BD66-87FB-2E75164B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4B8BE564-07ED-5E4D-A85D-C78B8A391EE9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endParaRPr sz="2400" b="1" dirty="0">
              <a:sym typeface="Times New Roman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D6461E-DA88-AFE8-EAFF-84E9A424B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41" y="1015076"/>
            <a:ext cx="11539779" cy="54893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01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Pre-Deployment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858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Arial"/>
              </a:rPr>
              <a:t>The pre-deployment summary was reviewed before release.</a:t>
            </a:r>
          </a:p>
        </p:txBody>
      </p:sp>
      <p:pic>
        <p:nvPicPr>
          <p:cNvPr id="9" name="Picture 8" descr="fcbd9c84-fe20-4f3a-868b-1b1ef55fb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665" y="1115568"/>
            <a:ext cx="9276364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DC055-9DE8-731B-4573-E65371EBEDCA}"/>
              </a:ext>
            </a:extLst>
          </p:cNvPr>
          <p:cNvSpPr txBox="1"/>
          <p:nvPr/>
        </p:nvSpPr>
        <p:spPr>
          <a:xfrm>
            <a:off x="1375037" y="1172400"/>
            <a:ext cx="84919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A8F3D0-52BA-100E-3FD8-228494F4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3" y="1709798"/>
            <a:ext cx="9628931" cy="49624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Version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Arial"/>
              </a:rPr>
              <a:t>Version v1.0 – Course Content Simplification was created.</a:t>
            </a:r>
          </a:p>
        </p:txBody>
      </p:sp>
      <p:pic>
        <p:nvPicPr>
          <p:cNvPr id="8" name="Picture 7" descr="971d4697-d0d8-46b6-97b3-8c4274f8a5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967" y="1115568"/>
            <a:ext cx="7627759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DC055-9DE8-731B-4573-E65371EBEDCA}"/>
              </a:ext>
            </a:extLst>
          </p:cNvPr>
          <p:cNvSpPr txBox="1"/>
          <p:nvPr/>
        </p:nvSpPr>
        <p:spPr>
          <a:xfrm>
            <a:off x="1375037" y="1172400"/>
            <a:ext cx="761421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Arial"/>
              </a:rPr>
              <a:t>The public GitHub repository contains the project submission files.</a:t>
            </a:r>
          </a:p>
        </p:txBody>
      </p:sp>
      <p:pic>
        <p:nvPicPr>
          <p:cNvPr id="7" name="Picture 6" descr="9a580869-493e-4f5c-b7ad-a02dea9e37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77" y="1115568"/>
            <a:ext cx="1054034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5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 sz="2400">
              <a:solidFill>
                <a:schemeClr val="dk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Orchestrate 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Arial"/>
              </a:rPr>
              <a:t>End-to-end flow of the Course Content Simplification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57400" cy="1097280"/>
          </a:xfrm>
          <a:prstGeom prst="roundRect">
            <a:avLst/>
          </a:prstGeom>
          <a:solidFill>
            <a:srgbClr val="F2F7FF"/>
          </a:solidFill>
          <a:ln>
            <a:solidFill>
              <a:srgbClr val="37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264"/>
                </a:solidFill>
                <a:latin typeface="Arial"/>
              </a:rPr>
              <a:t>Student</a:t>
            </a:r>
            <a:br/>
            <a:r>
              <a:rPr sz="1700" b="1">
                <a:solidFill>
                  <a:srgbClr val="143264"/>
                </a:solidFill>
                <a:latin typeface="Arial"/>
              </a:rPr>
              <a:t>Question /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148840"/>
            <a:ext cx="2057400" cy="1097280"/>
          </a:xfrm>
          <a:prstGeom prst="roundRect">
            <a:avLst/>
          </a:prstGeom>
          <a:solidFill>
            <a:srgbClr val="F2F7FF"/>
          </a:solidFill>
          <a:ln>
            <a:solidFill>
              <a:srgbClr val="37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264"/>
                </a:solidFill>
                <a:latin typeface="Arial"/>
              </a:rPr>
              <a:t>watsonx</a:t>
            </a:r>
            <a:br/>
            <a:r>
              <a:rPr sz="1700" b="1">
                <a:solidFill>
                  <a:srgbClr val="143264"/>
                </a:solidFill>
                <a:latin typeface="Arial"/>
              </a:rPr>
              <a:t>Orchestrate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2148840"/>
            <a:ext cx="2057400" cy="1097280"/>
          </a:xfrm>
          <a:prstGeom prst="roundRect">
            <a:avLst/>
          </a:prstGeom>
          <a:solidFill>
            <a:srgbClr val="F2F7FF"/>
          </a:solidFill>
          <a:ln>
            <a:solidFill>
              <a:srgbClr val="37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264"/>
                </a:solidFill>
                <a:latin typeface="Arial"/>
              </a:rPr>
              <a:t>Course</a:t>
            </a:r>
            <a:br/>
            <a:r>
              <a:rPr sz="1700" b="1">
                <a:solidFill>
                  <a:srgbClr val="143264"/>
                </a:solidFill>
                <a:latin typeface="Arial"/>
              </a:rPr>
              <a:t>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2057400" cy="1097280"/>
          </a:xfrm>
          <a:prstGeom prst="roundRect">
            <a:avLst/>
          </a:prstGeom>
          <a:solidFill>
            <a:srgbClr val="F2F7FF"/>
          </a:solidFill>
          <a:ln>
            <a:solidFill>
              <a:srgbClr val="37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264"/>
                </a:solidFill>
                <a:latin typeface="Arial"/>
              </a:rPr>
              <a:t>Simplified</a:t>
            </a:r>
            <a:br/>
            <a:r>
              <a:rPr sz="1700" b="1">
                <a:solidFill>
                  <a:srgbClr val="143264"/>
                </a:solidFill>
                <a:latin typeface="Arial"/>
              </a:rPr>
              <a:t>Answer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24912" y="2441448"/>
            <a:ext cx="384048" cy="457200"/>
          </a:xfrm>
          <a:prstGeom prst="rightArrow">
            <a:avLst/>
          </a:prstGeom>
          <a:solidFill>
            <a:srgbClr val="4682E6"/>
          </a:solidFill>
          <a:ln>
            <a:solidFill>
              <a:srgbClr val="46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468112" y="2441448"/>
            <a:ext cx="384048" cy="457200"/>
          </a:xfrm>
          <a:prstGeom prst="rightArrow">
            <a:avLst/>
          </a:prstGeom>
          <a:solidFill>
            <a:srgbClr val="4682E6"/>
          </a:solidFill>
          <a:ln>
            <a:solidFill>
              <a:srgbClr val="46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119872" y="2441448"/>
            <a:ext cx="384048" cy="457200"/>
          </a:xfrm>
          <a:prstGeom prst="rightArrow">
            <a:avLst/>
          </a:prstGeom>
          <a:solidFill>
            <a:srgbClr val="4682E6"/>
          </a:solidFill>
          <a:ln>
            <a:solidFill>
              <a:srgbClr val="46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4069080"/>
            <a:ext cx="2194560" cy="868680"/>
          </a:xfrm>
          <a:prstGeom prst="roundRect">
            <a:avLst/>
          </a:prstGeom>
          <a:solidFill>
            <a:srgbClr val="F8F8F8"/>
          </a:solidFill>
          <a:ln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rial"/>
              </a:rPr>
              <a:t>Evaluate</a:t>
            </a:r>
            <a:br/>
            <a:r>
              <a:rPr sz="1500" b="1">
                <a:latin typeface="Arial"/>
              </a:rPr>
              <a:t>1 test → 100%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2194560" cy="868680"/>
          </a:xfrm>
          <a:prstGeom prst="roundRect">
            <a:avLst/>
          </a:prstGeom>
          <a:solidFill>
            <a:srgbClr val="F8F8F8"/>
          </a:solidFill>
          <a:ln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rial"/>
              </a:rPr>
              <a:t>Version v1.0</a:t>
            </a:r>
            <a:br/>
            <a:r>
              <a:rPr sz="1500" b="1">
                <a:latin typeface="Arial"/>
              </a:rPr>
              <a:t>→ Live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700" b="1">
                <a:solidFill>
                  <a:srgbClr val="191919"/>
                </a:solidFill>
                <a:latin typeface="Arial"/>
              </a:rPr>
              <a:t>Role of Agentic AI in the Solution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700" b="0">
                <a:solidFill>
                  <a:srgbClr val="191919"/>
                </a:solidFill>
                <a:latin typeface="Arial"/>
              </a:rPr>
              <a:t>Agentic AI makes the solution more than a basic question-and-answer chatbot.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• Understands the student's request and required level of explanation.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Uses available course knowledge to support relevant responses.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Decides how to structure the explanation for clarity.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Generates concise, beginner-friendly responses while preserving core concepts.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Supports repeatable evaluation, versioning and deployment.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The result is a goal-oriented learning assistant that adapts its explanation style to the student's need.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700" b="1">
                <a:solidFill>
                  <a:srgbClr val="191919"/>
                </a:solidFill>
                <a:latin typeface="Arial"/>
              </a:rPr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700" b="0">
                <a:solidFill>
                  <a:srgbClr val="191919"/>
                </a:solidFill>
                <a:latin typeface="Arial"/>
              </a:rPr>
              <a:t>1. Learner-Centered Simplification – Focuses on how difficult a concept is for the learner.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2. Concept Preservation – Simplifies language while keeping important technical ideas.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3. Knowledge-Grounded Learning – Uses course knowledge as a supporting source.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4. Structured Responses – Presents concepts in clear steps, examples and simple terminology.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5. Deployable Agent – Built, evaluated, versioned and deployed using IBM watsonx Orchestrate.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700" b="1">
                <a:solidFill>
                  <a:srgbClr val="191919"/>
                </a:solidFill>
                <a:latin typeface="Arial"/>
              </a:rPr>
              <a:t>GitHub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700" b="0">
                <a:solidFill>
                  <a:srgbClr val="191919"/>
                </a:solidFill>
                <a:latin typeface="Arial"/>
              </a:rPr>
              <a:t>Public GitHub Repository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https://github.com/Sumadwakulkarni008/course-content-simplification-agent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Repository contents: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README.md – project documentation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problem_statement.txt – problem statement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solution_overview.txt – solution and implementation overview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• Course_Content_Simplification_Agent.pptx – project presentation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The repository is public and can be used to review the submitted project materials.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5AB4"/>
                </a:solidFill>
                <a:latin typeface="Arial"/>
              </a:rPr>
              <a:t>github.com/Sumadwakulkarni008/course-content-simplification-agent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700" b="1">
                <a:solidFill>
                  <a:srgbClr val="191919"/>
                </a:solidFill>
                <a:latin typeface="Arial"/>
              </a:rPr>
              <a:t>Future Scope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700" b="0">
                <a:solidFill>
                  <a:srgbClr val="191919"/>
                </a:solidFill>
                <a:latin typeface="Arial"/>
              </a:rPr>
              <a:t>1. Difficulty-Level Selection – Beginner, Intermediate or Advanced explanations.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2. Multilingual Learning – Regional-language support for broader accessibility.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3. PDF / PPT / Notes Input – Upload learning materials and ask questions directly from them.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4. Examples &amp; Practice Mode – Generate examples, quizzes and short practice questions.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5. Learning Progress – Track frequently asked topics and recommend revision material.</a:t>
            </a:r>
            <a:br/>
            <a:br/>
            <a:r>
              <a:rPr sz="1700" b="0">
                <a:solidFill>
                  <a:srgbClr val="191919"/>
                </a:solidFill>
                <a:latin typeface="Arial"/>
              </a:rPr>
              <a:t>6. Voice Interaction – Add voice input and spoken explanations.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IBM SkillsBuild Certificate</a:t>
            </a:r>
          </a:p>
        </p:txBody>
      </p:sp>
      <p:pic>
        <p:nvPicPr>
          <p:cNvPr id="3" name="Picture 2" descr="899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51560"/>
            <a:ext cx="103327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IBM SkillsBuild Certificate</a:t>
            </a:r>
          </a:p>
        </p:txBody>
      </p:sp>
      <p:pic>
        <p:nvPicPr>
          <p:cNvPr id="3" name="Picture 2" descr="899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51560"/>
            <a:ext cx="103327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Box 310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F3264"/>
                </a:solidFill>
                <a:latin typeface="Arial"/>
              </a:rPr>
              <a:t>Thank You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188720" y="288036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82828"/>
                </a:solidFill>
                <a:latin typeface="Arial"/>
              </a:rPr>
              <a:t>Course Content Simplification Agent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rial"/>
              </a:rPr>
              <a:t>Sumadwa Kulkarni  •  8277188531  •  Sumadwakulkarni@gmail.com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Sumadwa Kulkarni</cp:lastModifiedBy>
  <cp:revision>99</cp:revision>
  <dcterms:created xsi:type="dcterms:W3CDTF">2025-07-08T05:06:56Z</dcterms:created>
  <dcterms:modified xsi:type="dcterms:W3CDTF">2026-09-08T19:36:07Z</dcterms:modified>
</cp:coreProperties>
</file>